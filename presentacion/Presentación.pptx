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 y contexto" id="{d1c6283d-cd7e-3193-1921-595c5c02ddc3}">
          <p14:sldIdLst>
            <p14:sldId id="257"/>
            <p14:sldId id="258"/>
            <p14:sldId id="259"/>
          </p14:sldIdLst>
        </p14:section>
        <p14:section name="Procedimientos" id="{59a6ab10-0c9b-293b-c523-df03311ce8a7}">
          <p14:sldIdLst>
            <p14:sldId id="260"/>
            <p14:sldId id="261"/>
          </p14:sldIdLst>
        </p14:section>
        <p14:section name="Funciones" id="{563119be-1176-4be5-39f2-e316e093095a}">
          <p14:sldIdLst>
            <p14:sldId id="262"/>
            <p14:sldId id="263"/>
          </p14:sldIdLst>
        </p14:section>
        <p14:section name="Package" id="{606c93bf-3240-64ff-6239-4dd8aadd4897}">
          <p14:sldIdLst>
            <p14:sldId id="264"/>
            <p14:sldId id="265"/>
          </p14:sldIdLst>
        </p14:section>
        <p14:section name="Triggers" id="{6b7f3216-3df6-9848-e8a1-f3e19da326b1}">
          <p14:sldIdLst>
            <p14:sldId id="266"/>
            <p14:sldId id="267"/>
          </p14:sldIdLst>
        </p14:section>
        <p14:section name="Demostración y cierre" id="{c5fc4927-1ebf-a1c6-0518-0a429adff05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decorativo 1"/>
          <p:cNvSpPr/>
          <p:nvPr/>
        </p:nvSpPr>
        <p:spPr>
          <a:xfrm>
            <a:off x="8961120" y="3291840"/>
            <a:ext cx="4754880" cy="4754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irculo decorativo 2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circulo logo"/>
          <p:cNvSpPr/>
          <p:nvPr/>
        </p:nvSpPr>
        <p:spPr>
          <a:xfrm>
            <a:off x="731520" y="73152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Balón de fút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11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RECRUITMENT · BASE DE DATOS ORACLE / PL-SQL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Reclutamiento de Futbolistas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Talent Academy Agency — procedimientos, funciones, packages y triggers PL/SQL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46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BDY1103 · Taller de Base de Datos — Evaluación Parcial N°2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Profesor Cristian Gandolfi · 30/10/2026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Diego Jaramillo · Jose Salas · Italo Campodonico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o" descr="EL PROBL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Ofertas de fichaje sin validación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Talent Academy Agency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sigue a futbolistas profesionales: evaluaciones, pruebas físicas, estado médico y negociaciones con clubes compradores.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formalizar un contrato y cobrar comisión,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oferta debe ser viable deportiva, médica y financieramente.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esas reglas dependen de la revisión manual, y los errores humanos llegan a la negociación.</a:t>
            </a:r>
            <a:endParaRPr lang="en-US" sz="1600" dirty="0"/>
          </a:p>
        </p:txBody>
      </p:sp>
      <p:sp>
        <p:nvSpPr>
          <p:cNvPr id="7" name="tarjeta problema"/>
          <p:cNvSpPr/>
          <p:nvPr/>
        </p:nvSpPr>
        <p:spPr>
          <a:xfrm>
            <a:off x="6035040" y="1554480"/>
            <a:ext cx="55778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8288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Jugador lesion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933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866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 lesionado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2103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ofrece por futbolistas con lesión grave en recuperación.</a:t>
            </a:r>
            <a:endParaRPr lang="en-US" sz="1400" dirty="0"/>
          </a:p>
        </p:txBody>
      </p:sp>
      <p:sp>
        <p:nvSpPr>
          <p:cNvPr id="12" name="tarjeta problema"/>
          <p:cNvSpPr/>
          <p:nvPr/>
        </p:nvSpPr>
        <p:spPr>
          <a:xfrm>
            <a:off x="6035040" y="2880360"/>
            <a:ext cx="55778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31546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2" descr="Monto sobre presupue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31927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sobre presupuesto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08660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club ofrece más de lo que puede pagar.</a:t>
            </a:r>
            <a:endParaRPr lang="en-US" sz="1400" dirty="0"/>
          </a:p>
        </p:txBody>
      </p:sp>
      <p:sp>
        <p:nvSpPr>
          <p:cNvPr id="17" name="tarjeta problema"/>
          <p:cNvSpPr/>
          <p:nvPr/>
        </p:nvSpPr>
        <p:spPr>
          <a:xfrm>
            <a:off x="6035040" y="4206240"/>
            <a:ext cx="55778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63640" y="44805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3" descr="Oferta duplicad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64515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8660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duplicada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08660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ofertas pendientes del mismo club por el mismo jugador.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o" descr="CONTEXTO · SOLU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SOLUCIÓN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 negocio vive en la base de datos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las reglas de validación de ofertas, evitar inconsistencias y dejar un registro auditable de cada operación.</a:t>
            </a:r>
            <a:endParaRPr lang="en-US" sz="1600" dirty="0"/>
          </a:p>
        </p:txBody>
      </p:sp>
      <p:sp>
        <p:nvSpPr>
          <p:cNvPr id="7" name="paso flujo"/>
          <p:cNvSpPr/>
          <p:nvPr/>
        </p:nvSpPr>
        <p:spPr>
          <a:xfrm>
            <a:off x="548640" y="237744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jugador puede recibir ofertas?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paso flujo"/>
          <p:cNvSpPr/>
          <p:nvPr/>
        </p:nvSpPr>
        <p:spPr>
          <a:xfrm>
            <a:off x="3419856" y="237744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02736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2736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2736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602736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validada antes de guardarse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88736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paso flujo"/>
          <p:cNvSpPr/>
          <p:nvPr/>
        </p:nvSpPr>
        <p:spPr>
          <a:xfrm>
            <a:off x="6291072" y="237744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73952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73952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masiva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473952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automático de las inviables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759952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paso flujo"/>
          <p:cNvSpPr/>
          <p:nvPr/>
        </p:nvSpPr>
        <p:spPr>
          <a:xfrm>
            <a:off x="9162288" y="2377440"/>
            <a:ext cx="24688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345168" y="2560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34516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345168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345168" y="3611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queda registrada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elegibilidad del jugador hasta la aprobación/rechazo automático de ofertas y la auditoría por sentencia.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19c / 21c · PL/SQL · Oracle SQL Developer.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o" descr="DATOS E INFORM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INFORMACIÓN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entidades, una información nueva</a:t>
            </a:r>
            <a:endParaRPr lang="en-US" sz="2800" dirty="0"/>
          </a:p>
        </p:txBody>
      </p:sp>
      <p:sp>
        <p:nvSpPr>
          <p:cNvPr id="6" name="grupo tablas"/>
          <p:cNvSpPr/>
          <p:nvPr/>
        </p:nvSpPr>
        <p:spPr>
          <a:xfrm>
            <a:off x="548640" y="1554480"/>
            <a:ext cx="66751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Y EVALUACIÓN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SCOUT · EVALUACION · POSICION · JUGADOR · PRUEBA · PARTICIPACION_PRUEBA · HISTORIAL_CLUB · LESION</a:t>
            </a:r>
            <a:endParaRPr lang="en-US" sz="1500" dirty="0"/>
          </a:p>
        </p:txBody>
      </p:sp>
      <p:sp>
        <p:nvSpPr>
          <p:cNvPr id="9" name="grupo tablas"/>
          <p:cNvSpPr/>
          <p:nvPr/>
        </p:nvSpPr>
        <p:spPr>
          <a:xfrm>
            <a:off x="548640" y="3337560"/>
            <a:ext cx="66751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 Y FINANCIERO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862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 · OFERTA · CONTRATO · COMISION · AUDITORIA_OFERTA (tabla de apoyo de los triggers)</a:t>
            </a:r>
            <a:endParaRPr lang="en-US" sz="1500" dirty="0"/>
          </a:p>
        </p:txBody>
      </p:sp>
      <p:sp>
        <p:nvSpPr>
          <p:cNvPr id="12" name="estadistica"/>
          <p:cNvSpPr/>
          <p:nvPr/>
        </p:nvSpPr>
        <p:spPr>
          <a:xfrm>
            <a:off x="7589520" y="15544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16459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514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600 jugadores · 25 clubes · 200 ofertas cargadas</a:t>
            </a:r>
            <a:endParaRPr lang="en-US" sz="1300" dirty="0"/>
          </a:p>
        </p:txBody>
      </p:sp>
      <p:sp>
        <p:nvSpPr>
          <p:cNvPr id="15" name="informacion generada"/>
          <p:cNvSpPr/>
          <p:nvPr/>
        </p:nvSpPr>
        <p:spPr>
          <a:xfrm>
            <a:off x="7589520" y="333756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QUE SE GENERA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3886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ofertables hoy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disponible por club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rechazadas y vigentes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operaciones sobre OFERTA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1 · PROCEDIMIENTOS ALMACEN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1 · PROCEDIMIENTOS ALMACENADOS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esquema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136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agencia debe revisar sus ofertas pendientes: ¿el jugador sigue disponible?, ¿el club todavía puede pagar? Hacerlo oferta por oferta, a mano, es lento y propenso a errores.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251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masiva con un EXEC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las 75 ofertas pendientes de todos los clubes.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club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el presupuesto por orden de llegada.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508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1.A  PROCEDIMIENTO SIN PARÁMETROS</a:t>
            </a:r>
            <a:endParaRPr lang="en-US" sz="1100" dirty="0"/>
          </a:p>
        </p:txBody>
      </p:sp>
      <p:sp>
        <p:nvSpPr>
          <p:cNvPr id="16" name="caja flujo"/>
          <p:cNvSpPr/>
          <p:nvPr/>
        </p:nvSpPr>
        <p:spPr>
          <a:xfrm>
            <a:off x="466344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ofertas en estado PENDIENTE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9506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caja flujo"/>
          <p:cNvSpPr/>
          <p:nvPr/>
        </p:nvSpPr>
        <p:spPr>
          <a:xfrm>
            <a:off x="646938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7910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sp_revisar_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7910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cada club (c_clubes)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caja flujo"/>
          <p:cNvSpPr/>
          <p:nvPr/>
        </p:nvSpPr>
        <p:spPr>
          <a:xfrm>
            <a:off x="827532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504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sp_revisar_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ofertas_club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38504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llamada por club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80694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caja flujo"/>
          <p:cNvSpPr/>
          <p:nvPr/>
        </p:nvSpPr>
        <p:spPr>
          <a:xfrm>
            <a:off x="1008126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9098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19098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revisadas · rechazadas · vigentes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3611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1.B  PROCEDIMIENTO CON PARÁMETROS</a:t>
            </a:r>
            <a:endParaRPr lang="en-US" sz="1100" dirty="0"/>
          </a:p>
        </p:txBody>
      </p:sp>
      <p:sp>
        <p:nvSpPr>
          <p:cNvPr id="32" name="caja flujo"/>
          <p:cNvSpPr/>
          <p:nvPr/>
        </p:nvSpPr>
        <p:spPr>
          <a:xfrm>
            <a:off x="466344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p_id_club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club 20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19506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caja flujo"/>
          <p:cNvSpPr/>
          <p:nvPr/>
        </p:nvSpPr>
        <p:spPr>
          <a:xfrm>
            <a:off x="646938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7910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sp_revisar_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ofertas_club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7910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c_ofertas + funciones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00100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caja flujo"/>
          <p:cNvSpPr/>
          <p:nvPr/>
        </p:nvSpPr>
        <p:spPr>
          <a:xfrm>
            <a:off x="827532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8504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oferta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38504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estado_oferta = RECHAZADA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80694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caja flujo"/>
          <p:cNvSpPr/>
          <p:nvPr/>
        </p:nvSpPr>
        <p:spPr>
          <a:xfrm>
            <a:off x="1008126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19098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p_rechazadas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019098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5 rechazadas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1 · SOLU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1 · SOLUCIÓN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los procedimientos</a:t>
            </a:r>
            <a:endParaRPr lang="en-US" sz="2800" dirty="0"/>
          </a:p>
        </p:txBody>
      </p:sp>
      <p:sp>
        <p:nvSpPr>
          <p:cNvPr id="6" name="columna estructura"/>
          <p:cNvSpPr/>
          <p:nvPr/>
        </p:nvSpPr>
        <p:spPr>
          <a:xfrm>
            <a:off x="548640" y="1508760"/>
            <a:ext cx="5440680" cy="406908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459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· SIN PARÁMETROS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019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sp_revisar_ofertas_pendientes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054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9443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11810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cada club con ofertas pendientes, llama a sp_revisar_ofertas_club y muestra el resumen.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55701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30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c_clubes (EXISTS) · bucle FOR · contadores · fn_jugadores_no_ofertables.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6966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343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el control de club inexistente del procedimiento que invoca.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78231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INVOCA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9560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sp_revisar_ofertas_pendientes; y desde pkg_ofertas.revisar_ofertas.</a:t>
            </a:r>
            <a:endParaRPr lang="en-US" sz="1200" dirty="0"/>
          </a:p>
        </p:txBody>
      </p:sp>
      <p:sp>
        <p:nvSpPr>
          <p:cNvPr id="19" name="columna estructura"/>
          <p:cNvSpPr/>
          <p:nvPr/>
        </p:nvSpPr>
        <p:spPr>
          <a:xfrm>
            <a:off x="6172200" y="1508760"/>
            <a:ext cx="5440680" cy="4069080"/>
          </a:xfrm>
          <a:prstGeom prst="roundRect">
            <a:avLst>
              <a:gd name="adj" fmla="val 17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164592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· CON PARÁMETROS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9019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sp_revisar_ofertas_club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233172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25054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p_id_club IN · p_rechazadas OUT.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29443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311810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las ofertas de jugadores no ofertables o sin presupuesto restante, por orden de llegada.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355701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3730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c_ofertas (JOIN jugador) · %TYPE · v_disponible va descontando.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416966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43434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NO_DATA_FOUND si el club no existe: «El club 999 no existe».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478231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INVOCA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495604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un bloque PL/SQL que recibe el OUT y desde sp_revisar_ofertas_pendientes.</a:t>
            </a:r>
            <a:endParaRPr lang="en-US" sz="1200" dirty="0"/>
          </a:p>
        </p:txBody>
      </p:sp>
      <p:sp>
        <p:nvSpPr>
          <p:cNvPr id="32" name="nota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6C8"/>
          </a:solidFill>
          <a:ln w="12700">
            <a:solidFill>
              <a:srgbClr val="EFE6C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procedimientos?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UPDATE sobre muchas filas y orquestan el flujo; no devuelven un valor para usar en SQL.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2 · FUNCIONES ALMACEN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2 · FUNCIONES ALMACENADAS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esquema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136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 si una oferta es viable siempre se responden las mismas preguntas: ¿está lesionado?, ¿está disponible?, ¿cuánto le queda al club? Cada regla debe vivir en un solo lugar.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251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regla, muchos usos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función sirve en un SELECT, un procedimiento, el package y un trigger.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inexistente controlado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ID que no existe no hace caer el SELECT.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508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2.A  FUNCIÓN CON PARÁMETRO, USADA EN UN SELECT</a:t>
            </a:r>
            <a:endParaRPr lang="en-US" sz="1100" dirty="0"/>
          </a:p>
        </p:txBody>
      </p:sp>
      <p:sp>
        <p:nvSpPr>
          <p:cNvPr id="16" name="caja flujo"/>
          <p:cNvSpPr/>
          <p:nvPr/>
        </p:nvSpPr>
        <p:spPr>
          <a:xfrm>
            <a:off x="466344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filas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9506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caja flujo"/>
          <p:cNvSpPr/>
          <p:nvPr/>
        </p:nvSpPr>
        <p:spPr>
          <a:xfrm>
            <a:off x="646938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7910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fn_jugador_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ofertable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7910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fn_lesion_activa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caja flujo"/>
          <p:cNvSpPr/>
          <p:nvPr/>
        </p:nvSpPr>
        <p:spPr>
          <a:xfrm>
            <a:off x="827532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504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WHERE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38504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calculada y filtro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80694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caja flujo"/>
          <p:cNvSpPr/>
          <p:nvPr/>
        </p:nvSpPr>
        <p:spPr>
          <a:xfrm>
            <a:off x="1008126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9098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0 · -1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19098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ofertable · no · no existe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3611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2.B  FUNCIÓN SIN PARÁMETROS, USADA EN UN PROCEDIMIENTO</a:t>
            </a:r>
            <a:endParaRPr lang="en-US" sz="1100" dirty="0"/>
          </a:p>
        </p:txBody>
      </p:sp>
      <p:sp>
        <p:nvSpPr>
          <p:cNvPr id="32" name="caja flujo"/>
          <p:cNvSpPr/>
          <p:nvPr/>
        </p:nvSpPr>
        <p:spPr>
          <a:xfrm>
            <a:off x="466344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jugadores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19506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caja flujo"/>
          <p:cNvSpPr/>
          <p:nvPr/>
        </p:nvSpPr>
        <p:spPr>
          <a:xfrm>
            <a:off x="646938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7910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fn_jugadores_no_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ofertables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57910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los no ofertables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00100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caja flujo"/>
          <p:cNvSpPr/>
          <p:nvPr/>
        </p:nvSpPr>
        <p:spPr>
          <a:xfrm>
            <a:off x="827532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38504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sp_revisar_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38504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muestra en el resumen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80694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caja flujo"/>
          <p:cNvSpPr/>
          <p:nvPr/>
        </p:nvSpPr>
        <p:spPr>
          <a:xfrm>
            <a:off x="10081260" y="393192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190988" y="402336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0190988" y="461772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hoy no ofertables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2 · SOLU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2 · SOLUCIÓN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las funciones</a:t>
            </a:r>
            <a:endParaRPr lang="en-US" sz="2800" dirty="0"/>
          </a:p>
        </p:txBody>
      </p:sp>
      <p:graphicFrame>
        <p:nvGraphicFramePr>
          <p:cNvPr id="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651760"/>
                <a:gridCol w="19202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Función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Parámetros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Devuelve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Si el dato no existe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 usa 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fn_lesion_activa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p_id_jugador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 tiene lesión GRAVE vigente, 0 si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lesión devuelve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fn_jugador_ofertable y SELECT sobre jugadores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fn_jugador_ofertable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p_id_jugador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ofertable · 0 no · -1 no existe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NO_DATA_FOUND →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Procedimientos, package, trigger y 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fn_presupuesto_disponible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p_id_club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menos ofertas PENDIENTES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NO_DATA_FOUND →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y SELECT de los 25 clubes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fn_jugadores_no_ofertables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parámetros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de jugadores no ofertables (306)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… FROM dual y sp_revisar_ofertas_pendientes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nota"/>
          <p:cNvSpPr/>
          <p:nvPr/>
        </p:nvSpPr>
        <p:spPr>
          <a:xfrm>
            <a:off x="548640" y="42976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6C8"/>
          </a:solidFill>
          <a:ln w="12700">
            <a:solidFill>
              <a:srgbClr val="EFE6C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297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funciones?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Devuelven un valor, no modifican datos y se aplican a las 600 filas dentro de un SELECT.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3 · PACK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3 · PACKAGES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esquema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136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procedimientos y funciones de los requerimientos 1 y 2 quedaron sueltos en la base de datos. El package los ordena bajo un solo nombre y separa lo que se ofrece hacia afuera de las reglas internas.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251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solo objeto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registrar_oferta aplica 4 reglas y revisar_ofertas lanza la revisión masiva.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internas protegidas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mínimo y la validación de duplicados quedan privados.</a:t>
            </a:r>
            <a:endParaRPr lang="en-US" sz="1300" dirty="0"/>
          </a:p>
        </p:txBody>
      </p:sp>
      <p:sp>
        <p:nvSpPr>
          <p:cNvPr id="15" name="bloque publico"/>
          <p:cNvSpPr/>
          <p:nvPr/>
        </p:nvSpPr>
        <p:spPr>
          <a:xfrm>
            <a:off x="4663440" y="1508760"/>
            <a:ext cx="69494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1645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· PÚBLICO</a:t>
            </a:r>
            <a:endParaRPr lang="en-US" sz="1100" dirty="0"/>
          </a:p>
        </p:txBody>
      </p:sp>
      <p:sp>
        <p:nvSpPr>
          <p:cNvPr id="17" name="chip"/>
          <p:cNvSpPr/>
          <p:nvPr/>
        </p:nvSpPr>
        <p:spPr>
          <a:xfrm>
            <a:off x="4892040" y="201168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registrar_oferta</a:t>
            </a:r>
            <a:endParaRPr lang="en-US" sz="1200" dirty="0"/>
          </a:p>
        </p:txBody>
      </p:sp>
      <p:sp>
        <p:nvSpPr>
          <p:cNvPr id="19" name="chip"/>
          <p:cNvSpPr/>
          <p:nvPr/>
        </p:nvSpPr>
        <p:spPr>
          <a:xfrm>
            <a:off x="7132320" y="201168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revisar_ofertas</a:t>
            </a:r>
            <a:endParaRPr lang="en-US" sz="1200" dirty="0"/>
          </a:p>
        </p:txBody>
      </p:sp>
      <p:sp>
        <p:nvSpPr>
          <p:cNvPr id="21" name="chip"/>
          <p:cNvSpPr/>
          <p:nvPr/>
        </p:nvSpPr>
        <p:spPr>
          <a:xfrm>
            <a:off x="9372600" y="201168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726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jugador_ofertable</a:t>
            </a:r>
            <a:endParaRPr lang="en-US" sz="1200" dirty="0"/>
          </a:p>
        </p:txBody>
      </p:sp>
      <p:sp>
        <p:nvSpPr>
          <p:cNvPr id="23" name="chip"/>
          <p:cNvSpPr/>
          <p:nvPr/>
        </p:nvSpPr>
        <p:spPr>
          <a:xfrm>
            <a:off x="4892040" y="256032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presupuesto_disponible</a:t>
            </a:r>
            <a:endParaRPr lang="en-US" sz="1200" dirty="0"/>
          </a:p>
        </p:txBody>
      </p:sp>
      <p:sp>
        <p:nvSpPr>
          <p:cNvPr id="25" name="chip"/>
          <p:cNvSpPr/>
          <p:nvPr/>
        </p:nvSpPr>
        <p:spPr>
          <a:xfrm>
            <a:off x="7132320" y="2560320"/>
            <a:ext cx="21031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2560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g_ofertas_registradas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892040" y="31089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invocan con el prefijo pkg_ofertas. Los usan bloques PL/SQL, SELECT y el trigger de fila.</a:t>
            </a:r>
            <a:endParaRPr lang="en-US" sz="1200" dirty="0"/>
          </a:p>
        </p:txBody>
      </p:sp>
      <p:sp>
        <p:nvSpPr>
          <p:cNvPr id="28" name="bloque privado"/>
          <p:cNvSpPr/>
          <p:nvPr/>
        </p:nvSpPr>
        <p:spPr>
          <a:xfrm>
            <a:off x="4663440" y="3840480"/>
            <a:ext cx="694944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977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· PRIVADO (solo se usa adentro)</a:t>
            </a:r>
            <a:endParaRPr lang="en-US" sz="1100" dirty="0"/>
          </a:p>
        </p:txBody>
      </p:sp>
      <p:sp>
        <p:nvSpPr>
          <p:cNvPr id="30" name="chip"/>
          <p:cNvSpPr/>
          <p:nvPr/>
        </p:nvSpPr>
        <p:spPr>
          <a:xfrm>
            <a:off x="4892040" y="434340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9204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c_monto_minimo = 50000</a:t>
            </a:r>
            <a:endParaRPr lang="en-US" sz="1200" dirty="0"/>
          </a:p>
        </p:txBody>
      </p:sp>
      <p:sp>
        <p:nvSpPr>
          <p:cNvPr id="32" name="chip"/>
          <p:cNvSpPr/>
          <p:nvPr/>
        </p:nvSpPr>
        <p:spPr>
          <a:xfrm>
            <a:off x="8183880" y="4343400"/>
            <a:ext cx="310896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83880" y="4343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oferta_duplicada()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892040" y="4937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afuera no se ven: pkg_ofertas.oferta_duplicada falla con PLS-00302.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3 · SOLU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3 · SOLUCIÓN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y cuerpo de pkg_ofertas</a:t>
            </a:r>
            <a:endParaRPr lang="en-US" sz="28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188720"/>
                <a:gridCol w="246888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Elemento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Visibilidad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Parámetros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Para qué sirve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g_ofertas_registradas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las ofertas registradas en la sesión.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jugador_ofertable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p_id_jugador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Envuelve fn_jugador_ofertable (Req. 2); la usa el trigger de fila.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presupuesto_disponible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p_id_club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Envuelve fn_presupuesto_disponible; sirve en un SELECT.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registrar_oferta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jugador, club, monto IN · id_oferta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 4 reglas y registra la oferta como PENDIENTE.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revisar_ofertas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a sp_revisar_ofertas_pendientes (Req. 1).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c_monto_minimo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50000: regla interna que nadie de afuera debe cambiar.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oferta_duplicada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jugador, club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2 ofertas pendientes; consulta OFERTA, por eso no va en el trigger (ORA-04091).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4 · TRIGG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4 · TRIGGERS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esquema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1368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las ofertas deben cumplirse siempre, aunque alguien haga un INSERT o UPDATE directo sin pasar por el package. Además, cada operación debe dejar rastro y el historial no se puede borrar.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2519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grabar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triggers BEFORE rechazan con RAISE_APPLICATION_ERROR.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2064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 que ocurrió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AFTER deja una fila de auditoría por sentencia.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1508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4.A  OFERTA NUEVA O MODIFICADA</a:t>
            </a:r>
            <a:endParaRPr lang="en-US" sz="1100" dirty="0"/>
          </a:p>
        </p:txBody>
      </p:sp>
      <p:sp>
        <p:nvSpPr>
          <p:cNvPr id="16" name="caja flujo"/>
          <p:cNvSpPr/>
          <p:nvPr/>
        </p:nvSpPr>
        <p:spPr>
          <a:xfrm>
            <a:off x="466344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tabla OFERTA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19506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caja flujo"/>
          <p:cNvSpPr/>
          <p:nvPr/>
        </p:nvSpPr>
        <p:spPr>
          <a:xfrm>
            <a:off x="646938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7910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trg_oferta_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7910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fila · :OLD / :NEW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00100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caja flujo"/>
          <p:cNvSpPr/>
          <p:nvPr/>
        </p:nvSpPr>
        <p:spPr>
          <a:xfrm>
            <a:off x="827532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504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grabada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38504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pasó todas las reglas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80694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caja flujo"/>
          <p:cNvSpPr/>
          <p:nvPr/>
        </p:nvSpPr>
        <p:spPr>
          <a:xfrm>
            <a:off x="10081260" y="1828800"/>
            <a:ext cx="15316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90988" y="1920240"/>
            <a:ext cx="13121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trg_oferta_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190988" y="2514600"/>
            <a:ext cx="1312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sentencia → AUDITORIA_OFERTA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663440" y="3611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4.B  INTENTO DE BORRADO</a:t>
            </a:r>
            <a:endParaRPr lang="en-US" sz="1100" dirty="0"/>
          </a:p>
        </p:txBody>
      </p:sp>
      <p:sp>
        <p:nvSpPr>
          <p:cNvPr id="32" name="caja flujo"/>
          <p:cNvSpPr/>
          <p:nvPr/>
        </p:nvSpPr>
        <p:spPr>
          <a:xfrm>
            <a:off x="4663440" y="3931920"/>
            <a:ext cx="213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4023360"/>
            <a:ext cx="1914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4617720"/>
            <a:ext cx="191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tabla OFERTA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79704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caja flujo"/>
          <p:cNvSpPr/>
          <p:nvPr/>
        </p:nvSpPr>
        <p:spPr>
          <a:xfrm>
            <a:off x="7071360" y="3931920"/>
            <a:ext cx="2133600" cy="128016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181088" y="4023360"/>
            <a:ext cx="1914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trg_oferta_no_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181088" y="4617720"/>
            <a:ext cx="191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sentencia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20496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caja flujo"/>
          <p:cNvSpPr/>
          <p:nvPr/>
        </p:nvSpPr>
        <p:spPr>
          <a:xfrm>
            <a:off x="9479280" y="3931920"/>
            <a:ext cx="21336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589008" y="4023360"/>
            <a:ext cx="1914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ORA-20030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589008" y="4617720"/>
            <a:ext cx="191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no se borra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o" descr="REQUERIMIENTO 4 · SOLU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4 · SOLUCIÓN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los triggers</a:t>
            </a:r>
            <a:endParaRPr lang="en-US" sz="28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2651760"/>
                <a:gridCol w="109728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Trigger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Momento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Evento · tabla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Nivel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Qué hace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trg_oferta_validar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OR UPDATE OF monto_oferta, estado_oferta · OFERTA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 oferta nueva no PENDIENTE (-20020), jugador no disponible (-20021) o lesionado (-20022), monto sobre el presupuesto (-20023) y cambios a ofertas cerradas (-20024).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trg_oferta_no_eliminar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· OFERTA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Prohíbe borrar ofertas (-20030): quedan como RECHAZADA.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trg_oferta_auditoria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OR UPDATE · OFERTA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fila en AUDITORIA_OFERTA por sentencia (INSERTING / UPDATING).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nota trigger"/>
          <p:cNvSpPr/>
          <p:nvPr/>
        </p:nvSpPr>
        <p:spPr>
          <a:xfrm>
            <a:off x="54864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APOYO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AUDITORIA_OFERTA se crea en el script de carga (IDENTITY como PK).</a:t>
            </a:r>
            <a:endParaRPr lang="en-US" sz="1300" dirty="0"/>
          </a:p>
        </p:txBody>
      </p:sp>
      <p:sp>
        <p:nvSpPr>
          <p:cNvPr id="10" name="nota trigger"/>
          <p:cNvSpPr/>
          <p:nvPr/>
        </p:nvSpPr>
        <p:spPr>
          <a:xfrm>
            <a:off x="429768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8056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trg_oferta_validar usa pkg_ofertas.jugador_ofertable; la revisión masiva dispara los triggers.</a:t>
            </a:r>
            <a:endParaRPr lang="en-US" sz="1300" dirty="0"/>
          </a:p>
        </p:txBody>
      </p:sp>
      <p:sp>
        <p:nvSpPr>
          <p:cNvPr id="13" name="nota trigger"/>
          <p:cNvSpPr/>
          <p:nvPr/>
        </p:nvSpPr>
        <p:spPr>
          <a:xfrm>
            <a:off x="8046720" y="4343400"/>
            <a:ext cx="35661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MUTANTE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de fila no consulta OFERTA: el duplicado lo valida el package (ORA-04091).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o" descr="DEMOSTR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objetos funcionando con datos reales</a:t>
            </a:r>
            <a:endParaRPr lang="en-US" sz="2800" dirty="0"/>
          </a:p>
        </p:txBody>
      </p:sp>
      <p:sp>
        <p:nvSpPr>
          <p:cNvPr id="6" name="tarjeta demo"/>
          <p:cNvSpPr/>
          <p:nvPr/>
        </p:nvSpPr>
        <p:spPr>
          <a:xfrm>
            <a:off x="548640" y="150876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200" dirty="0"/>
          </a:p>
        </p:txBody>
      </p:sp>
      <p:sp>
        <p:nvSpPr>
          <p:cNvPr id="8" name="bloque codigo"/>
          <p:cNvSpPr/>
          <p:nvPr/>
        </p:nvSpPr>
        <p:spPr>
          <a:xfrm>
            <a:off x="731520" y="21031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2240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sp_revisar_ofertas_pendientes;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de 75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pendientes rechazadas; 27 siguen vigentes.</a:t>
            </a:r>
            <a:endParaRPr lang="en-US" sz="1400" dirty="0"/>
          </a:p>
        </p:txBody>
      </p:sp>
      <p:sp>
        <p:nvSpPr>
          <p:cNvPr id="12" name="tarjeta demo"/>
          <p:cNvSpPr/>
          <p:nvPr/>
        </p:nvSpPr>
        <p:spPr>
          <a:xfrm>
            <a:off x="4297680" y="150876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EN SELECT</a:t>
            </a:r>
            <a:endParaRPr lang="en-US" sz="1200" dirty="0"/>
          </a:p>
        </p:txBody>
      </p:sp>
      <p:sp>
        <p:nvSpPr>
          <p:cNvPr id="14" name="bloque codigo"/>
          <p:cNvSpPr/>
          <p:nvPr/>
        </p:nvSpPr>
        <p:spPr>
          <a:xfrm>
            <a:off x="4480560" y="21031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2240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fn_lesion_activa(id_jugador) = 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jugadores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figuran disponibles con lesión grave (IDs 4, 94, 101, 467). Un ID inexistente retorna -1.</a:t>
            </a:r>
            <a:endParaRPr lang="en-US" sz="1400" dirty="0"/>
          </a:p>
        </p:txBody>
      </p:sp>
      <p:sp>
        <p:nvSpPr>
          <p:cNvPr id="18" name="tarjeta demo"/>
          <p:cNvSpPr/>
          <p:nvPr/>
        </p:nvSpPr>
        <p:spPr>
          <a:xfrm>
            <a:off x="8046720" y="150876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20" name="bloque codigo"/>
          <p:cNvSpPr/>
          <p:nvPr/>
        </p:nvSpPr>
        <p:spPr>
          <a:xfrm>
            <a:off x="8229600" y="2103120"/>
            <a:ext cx="32004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2240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oferta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WHERE id_oferta = 20;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3291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ORA-20030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0233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bloqueado. Un UPDATE de 3 filas dispara el trigger de fila 3 veces y el de sentencia 1.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la ejecución real en Oracle SQL Developer (Requerimiento 1 a 4).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icono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o" descr="CONCLUS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39496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1417320" y="566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 impacto del proyecto</a:t>
            </a:r>
            <a:endParaRPr lang="en-US" sz="2800" dirty="0"/>
          </a:p>
        </p:txBody>
      </p:sp>
      <p:sp>
        <p:nvSpPr>
          <p:cNvPr id="6" name="tarjeta conclusion"/>
          <p:cNvSpPr/>
          <p:nvPr/>
        </p:nvSpPr>
        <p:spPr>
          <a:xfrm>
            <a:off x="548640" y="150876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5740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Resum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89280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0632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Funciones, procedimientos, package y triggers trabajan como una sola solución.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masiva de ofertas con reglas médicas y financieras.</a:t>
            </a:r>
            <a:endParaRPr lang="en-US" sz="1400" dirty="0"/>
          </a:p>
        </p:txBody>
      </p:sp>
      <p:sp>
        <p:nvSpPr>
          <p:cNvPr id="11" name="tarjeta conclusion"/>
          <p:cNvSpPr/>
          <p:nvPr/>
        </p:nvSpPr>
        <p:spPr>
          <a:xfrm>
            <a:off x="4297680" y="150876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0644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Impac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18928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30632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centralizadas en la BD: ni un INSERT directo se las salta.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ofertas que no se borran y auditoría por sentencia.</a:t>
            </a:r>
            <a:endParaRPr lang="en-US" sz="1400" dirty="0"/>
          </a:p>
        </p:txBody>
      </p:sp>
      <p:sp>
        <p:nvSpPr>
          <p:cNvPr id="16" name="tarjeta conclusion"/>
          <p:cNvSpPr/>
          <p:nvPr/>
        </p:nvSpPr>
        <p:spPr>
          <a:xfrm>
            <a:off x="8046720" y="150876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555480" y="17373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3" descr="Recomendacio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189280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75320" y="30632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valores previos y nuevos con :OLD y :NEW.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los controles a CONTRATO y COMISION.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 decorativo"/>
          <p:cNvSpPr/>
          <p:nvPr/>
        </p:nvSpPr>
        <p:spPr>
          <a:xfrm>
            <a:off x="-1371600" y="4206240"/>
            <a:ext cx="4114800" cy="411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circulo logo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Balón de fút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sobre procedimientos, funciones, packages o triggers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Jaramillo · Jose Salas · Italo Campodonico — BDY1103 Taller de Base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outing Verde">
  <a:themeElements>
    <a:clrScheme name="Scouting Verde">
      <a:dk1>
        <a:srgbClr val="1B1B1B"/>
      </a:dk1>
      <a:lt1>
        <a:srgbClr val="FFFFFF"/>
      </a:lt1>
      <a:dk2>
        <a:srgbClr val="1B4332"/>
      </a:dk2>
      <a:lt2>
        <a:srgbClr val="F2F5F3"/>
      </a:lt2>
      <a:accent1>
        <a:srgbClr val="2D6A4F"/>
      </a:accent1>
      <a:accent2>
        <a:srgbClr val="8A6A16"/>
      </a:accent2>
      <a:accent3>
        <a:srgbClr val="D4AF37"/>
      </a:accent3>
      <a:accent4>
        <a:srgbClr val="74C69D"/>
      </a:accent4>
      <a:accent5>
        <a:srgbClr val="5B6B63"/>
      </a:accent5>
      <a:accent6>
        <a:srgbClr val="CADCC7"/>
      </a:accent6>
      <a:hlink>
        <a:srgbClr val="2D6A4F"/>
      </a:hlink>
      <a:folHlink>
        <a:srgbClr val="5B6B63"/>
      </a:folHlink>
    </a:clrScheme>
    <a:fontScheme name="Scouting Ver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Reclutamiento de Futbolistas - Evaluación Parcial N°2</dc:title>
  <dc:subject>PptxGenJS Presentation</dc:subject>
  <dc:creator>Diego Jaramillo, Jose Salas, Italo Campodonico</dc:creator>
  <cp:lastModifiedBy>Diego Jaramillo, Jose Salas, Italo Campodonico</cp:lastModifiedBy>
  <cp:revision>1</cp:revision>
  <dcterms:created xsi:type="dcterms:W3CDTF">2026-10-29T00:43:27Z</dcterms:created>
  <dcterms:modified xsi:type="dcterms:W3CDTF">2026-10-29T00:43:27Z</dcterms:modified>
</cp:coreProperties>
</file>